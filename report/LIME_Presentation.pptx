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Low-Light Image Enhancement</a:t>
            </a:r>
          </a:p>
          <a:p>
            <a:pPr algn="ctr"/>
            <a:r>
              <a:rPr sz="2200">
                <a:solidFill>
                  <a:srgbClr val="BBCCEE"/>
                </a:solidFill>
              </a:rPr>
              <a:t>Using Illumination Map Estimation (LIME) and Adaptive Contrast Improvement</a:t>
            </a:r>
          </a:p>
          <a:p>
            <a:pPr algn="ctr">
              <a:spcBef>
                <a:spcPts val="1000"/>
              </a:spcBef>
            </a:pPr>
            <a:r>
              <a:rPr sz="1800">
                <a:solidFill>
                  <a:srgbClr val="FFFFFF"/>
                </a:solidFill>
              </a:rPr>
              <a:t>Awais Tahir (232387)  -  Zain Ul Abideen (232420)  -  Abeera Zainab (232997)</a:t>
            </a:r>
          </a:p>
          <a:p>
            <a:pPr algn="ctr">
              <a:spcBef>
                <a:spcPts val="1000"/>
              </a:spcBef>
            </a:pPr>
            <a:r>
              <a:rPr sz="1600">
                <a:solidFill>
                  <a:srgbClr val="FFFFFF"/>
                </a:solidFill>
              </a:rPr>
              <a:t>Department of Computer Science, Air University</a:t>
            </a:r>
          </a:p>
          <a:p>
            <a:pPr algn="ctr">
              <a:spcBef>
                <a:spcPts val="1000"/>
              </a:spcBef>
            </a:pPr>
            <a:r>
              <a:rPr sz="1600">
                <a:solidFill>
                  <a:srgbClr val="FFFFFF"/>
                </a:solidFill>
              </a:rPr>
              <a:t>Digital Image Processing Project  |  Submitted to: Sir Abdullah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The Problem</a:t>
            </a:r>
          </a:p>
          <a:p>
            <a:r>
              <a:rPr sz="1400">
                <a:solidFill>
                  <a:srgbClr val="BBCCEE"/>
                </a:solidFill>
              </a:rPr>
              <a:t>Why low-light enhancement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Photos taken in the dark: scene is there, we just cannot see it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- Low brightness and flat contrast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- Details hidden in shadow, colors look off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- Brighten naively -&gt; noise explodes, looks unnatural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Real impact: night CCTV, traffic cameras, phone photos, security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Goal: make a dark image actually usable, not just brighter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Selected Research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LIME: Low-Light Image Enhancement via Illumination Map Estimation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- Guo, Li, Ling - IEEE Trans. Image Processing, 2017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Why we picked it: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- Strong IEEE venue, exactly our problem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- Built on course concepts: illumination, filtering, gamma, restoration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- No deep learning / no GPU / no huge dataset - we can run it fully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Literature Review</a:t>
            </a:r>
          </a:p>
          <a:p>
            <a:r>
              <a:rPr sz="1400">
                <a:solidFill>
                  <a:srgbClr val="BBCCEE"/>
                </a:solidFill>
              </a:rPr>
              <a:t>How existing methods compare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572000"/>
              </a:tblGrid>
              <a:tr h="6858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E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>
                    <a:solidFill>
                      <a:srgbClr val="1E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Limitation</a:t>
                      </a:r>
                    </a:p>
                  </a:txBody>
                  <a:tcPr>
                    <a:solidFill>
                      <a:srgbClr val="1E5A9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/>
                        <a:t>Global 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Stretch global 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Over-enhances, color distortion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/>
                        <a:t>CLAHE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Local HE with clipping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Needs tuning, amplifies noise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/>
                        <a:t>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Nonlinear brightening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Ignores actual illumination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/>
                        <a:t>Retinex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Illumination x reflectance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Sensitive to scale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/>
                        <a:t>LIME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Estimate + correct illumination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Noise rises in very dark images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How LIME Works</a:t>
            </a:r>
          </a:p>
          <a:p>
            <a:r>
              <a:rPr sz="1400">
                <a:solidFill>
                  <a:srgbClr val="BBCCEE"/>
                </a:solidFill>
              </a:rPr>
              <a:t>The core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A dark photo = a lit scene multiplied down by weak lighting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So: estimate the lighting at each pixel, then divide it back out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Step 1  Initial map:  T_hat(x) = max(R, G, B)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Step 2  Refine map: edge-preserving smoothing (guided filter)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Step 3  Correct:  R(x) = I(x) / T(x)^gamma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Step 4  Clip to [0,255], back to RGB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Processing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3747" y="2560320"/>
            <a:ext cx="1600200" cy="1188720"/>
          </a:xfrm>
          <a:prstGeom prst="rect">
            <a:avLst/>
          </a:prstGeom>
          <a:solidFill>
            <a:srgbClr val="1E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Dark
Input</a:t>
            </a:r>
          </a:p>
        </p:txBody>
      </p:sp>
      <p:sp>
        <p:nvSpPr>
          <p:cNvPr id="4" name="Can 3"/>
          <p:cNvSpPr/>
          <p:nvPr/>
        </p:nvSpPr>
        <p:spPr>
          <a:xfrm>
            <a:off x="2323947" y="2971800"/>
            <a:ext cx="228600" cy="365760"/>
          </a:xfrm>
          <a:prstGeom prst="can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2547" y="2560320"/>
            <a:ext cx="1600200" cy="1188720"/>
          </a:xfrm>
          <a:prstGeom prst="rect">
            <a:avLst/>
          </a:prstGeom>
          <a:solidFill>
            <a:srgbClr val="1E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Initial
Illum. Map</a:t>
            </a:r>
          </a:p>
        </p:txBody>
      </p:sp>
      <p:sp>
        <p:nvSpPr>
          <p:cNvPr id="6" name="Can 5"/>
          <p:cNvSpPr/>
          <p:nvPr/>
        </p:nvSpPr>
        <p:spPr>
          <a:xfrm>
            <a:off x="4152747" y="2971800"/>
            <a:ext cx="228600" cy="365760"/>
          </a:xfrm>
          <a:prstGeom prst="can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1347" y="2560320"/>
            <a:ext cx="1600200" cy="1188720"/>
          </a:xfrm>
          <a:prstGeom prst="rect">
            <a:avLst/>
          </a:prstGeom>
          <a:solidFill>
            <a:srgbClr val="1E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Refine
(Guided)</a:t>
            </a:r>
          </a:p>
        </p:txBody>
      </p:sp>
      <p:sp>
        <p:nvSpPr>
          <p:cNvPr id="8" name="Can 7"/>
          <p:cNvSpPr/>
          <p:nvPr/>
        </p:nvSpPr>
        <p:spPr>
          <a:xfrm>
            <a:off x="5981547" y="2971800"/>
            <a:ext cx="228600" cy="365760"/>
          </a:xfrm>
          <a:prstGeom prst="can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0147" y="2560320"/>
            <a:ext cx="1600200" cy="1188720"/>
          </a:xfrm>
          <a:prstGeom prst="rect">
            <a:avLst/>
          </a:prstGeom>
          <a:solidFill>
            <a:srgbClr val="1E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Correct
I / T^g</a:t>
            </a:r>
          </a:p>
        </p:txBody>
      </p:sp>
      <p:sp>
        <p:nvSpPr>
          <p:cNvPr id="10" name="Can 9"/>
          <p:cNvSpPr/>
          <p:nvPr/>
        </p:nvSpPr>
        <p:spPr>
          <a:xfrm>
            <a:off x="7810347" y="2971800"/>
            <a:ext cx="228600" cy="365760"/>
          </a:xfrm>
          <a:prstGeom prst="can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38947" y="2560320"/>
            <a:ext cx="1600200" cy="1188720"/>
          </a:xfrm>
          <a:prstGeom prst="rect">
            <a:avLst/>
          </a:prstGeom>
          <a:solidFill>
            <a:srgbClr val="1E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LIME
Output</a:t>
            </a:r>
          </a:p>
        </p:txBody>
      </p:sp>
      <p:sp>
        <p:nvSpPr>
          <p:cNvPr id="12" name="Can 11"/>
          <p:cNvSpPr/>
          <p:nvPr/>
        </p:nvSpPr>
        <p:spPr>
          <a:xfrm>
            <a:off x="9639147" y="2971800"/>
            <a:ext cx="228600" cy="365760"/>
          </a:xfrm>
          <a:prstGeom prst="can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67747" y="2560320"/>
            <a:ext cx="1600200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Improved
LIME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Last stage (Improved LIME) adds bilateral denoise + adaptive gamma + CLAHE.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Implementation</a:t>
            </a:r>
          </a:p>
          <a:p>
            <a:r>
              <a:rPr sz="1400">
                <a:solidFill>
                  <a:srgbClr val="BBCCEE"/>
                </a:solidFill>
              </a:rPr>
              <a:t>Tools and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Python in Google Colab - runs top to bottom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OpenCV: color convert, HE, CLAHE, bilateral, guided-filter smoothing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NumPy: array math   |   Matplotlib + Seaborn: plots   |   scikit-image: SSIM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Methods compared: HE, CLAHE, Gamma+CLAHE, SSR, MSR, LIME, Improved LIME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Dataset: upload real low-light images, or synthetic fallback for code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4114800"/>
            <a:ext cx="3931920" cy="2103120"/>
          </a:xfrm>
          <a:prstGeom prst="rect">
            <a:avLst/>
          </a:prstGeom>
          <a:solidFill>
            <a:srgbClr val="F3F3F3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00000"/>
                </a:solidFill>
              </a:rPr>
              <a:t>[ INSERT: screenshot of notebook running in Colab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Our Improvement: Improved LIME</a:t>
            </a:r>
          </a:p>
          <a:p>
            <a:r>
              <a:rPr sz="1400">
                <a:solidFill>
                  <a:srgbClr val="BBCCEE"/>
                </a:solidFill>
              </a:rPr>
              <a:t>Small, defensible, separate from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Plain LIME, plus three sensible touches: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- Bilateral denoise BEFORE LIME -&gt; do not amplify sensor noise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- Adaptive gamma -&gt; pick strength from input brightness automatically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- CLAHE on luminance AFTER LIME -&gt; restore local contrast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Kept separate from original LIME so comparison stays fair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Trade-off: slightly higher runtime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Results - Visual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10972800" cy="2743200"/>
          </a:xfrm>
          <a:prstGeom prst="rect">
            <a:avLst/>
          </a:prstGeom>
          <a:solidFill>
            <a:srgbClr val="F3F3F3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00000"/>
                </a:solidFill>
              </a:rPr>
              <a:t>[ INSERT OUTPUT: visual_comparison.png
(Original | HE | CLAHE | Gamma+CLAHE | MSR | LIME | Improved LIME) ]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389120"/>
            <a:ext cx="10972800" cy="2011680"/>
          </a:xfrm>
          <a:prstGeom prst="rect">
            <a:avLst/>
          </a:prstGeom>
          <a:solidFill>
            <a:srgbClr val="F3F3F3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00000"/>
                </a:solidFill>
              </a:rPr>
              <a:t>[ INSERT OUTPUT: LIME intermediate maps (Input | Initial T_hat | Refined T | LIME | Improved)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Results - Quantitative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1F3A"/>
                </a:solidFill>
              </a:rPr>
              <a:t>No-reference metrics: brightness, contrast, entropy, colorfulness, gains, runtime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F3A"/>
                </a:solidFill>
              </a:rPr>
              <a:t>With paired reference: also MSE, PSNR, SSIM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743200"/>
            <a:ext cx="6400800" cy="3291840"/>
          </a:xfrm>
          <a:prstGeom prst="rect">
            <a:avLst/>
          </a:prstGeom>
          <a:solidFill>
            <a:srgbClr val="F3F3F3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00000"/>
                </a:solidFill>
              </a:rPr>
              <a:t>[ INSERT OUTPUT: metrics table (all 7 methods incl. LIME + Improved LIME) ]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743200"/>
            <a:ext cx="4206240" cy="3291840"/>
          </a:xfrm>
          <a:prstGeom prst="rect">
            <a:avLst/>
          </a:prstGeom>
          <a:solidFill>
            <a:srgbClr val="F3F3F3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00000"/>
                </a:solidFill>
              </a:rPr>
              <a:t>[ INSERT OUTPUT: metric bar graphs / CDF plot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Discussion</a:t>
            </a:r>
          </a:p>
          <a:p>
            <a:r>
              <a:rPr sz="1400">
                <a:solidFill>
                  <a:srgbClr val="BBCCEE"/>
                </a:solidFill>
              </a:rPr>
              <a:t>What we observed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HE: more contrast but harsh and unnatural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CLAHE: good local contrast, can lift noise in dark areas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Gamma: brightens but ignores real illumination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Retinex: visible gains but can shift colors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LIME: best balance - estimates illumination, preserves structure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Improved LIME: cleaner, punchier, slightly slower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Implemented a real IEEE paper end to end (LIME)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Compared against classical methods + added a defensible improvement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Connected paper theory to a working, measurable pipeline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Future work: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- Larger real dataset (e.g. LOL)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- Implement the paper's exact optimization solver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- Compare with recent learning-based methods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- Test if enhancement helps low-light object detection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Quick Viva Prep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Why LIME? IEEE TIP paper, classical DIP, solves our exact problem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What is T_hat? Initial illumination = max of R,G,B per pixel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Why refine? Raw map carries texture/noise; we want only lighting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Paper exact? Refinement approximated with guided filter - stated honestly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Your innovation? Denoise + adaptive gamma + CLAHE after LIME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B1F3A"/>
                </a:solidFill>
              </a:rPr>
              <a:t>Evaluation? Visual + histogram/CDF + brightness/contrast/entropy/runtime + PSNR/SSIM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Thank You  -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